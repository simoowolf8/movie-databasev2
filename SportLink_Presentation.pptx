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78" r:id="rId7"/>
    <p:sldId id="262" r:id="rId8"/>
    <p:sldId id="264" r:id="rId9"/>
    <p:sldId id="266" r:id="rId10"/>
    <p:sldId id="265" r:id="rId11"/>
    <p:sldId id="263" r:id="rId12"/>
    <p:sldId id="279" r:id="rId13"/>
    <p:sldId id="273" r:id="rId14"/>
    <p:sldId id="274" r:id="rId15"/>
    <p:sldId id="275" r:id="rId16"/>
    <p:sldId id="276" r:id="rId17"/>
    <p:sldId id="277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86"/>
  </p:normalViewPr>
  <p:slideViewPr>
    <p:cSldViewPr snapToGrid="0" snapToObjects="1">
      <p:cViewPr varScale="1">
        <p:scale>
          <a:sx n="98" d="100"/>
          <a:sy n="98" d="100"/>
        </p:scale>
        <p:origin x="14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255946"/>
              </p:ext>
            </p:extLst>
          </p:nvPr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9404"/>
            <a:ext cx="7772400" cy="2508069"/>
          </a:xfrm>
        </p:spPr>
        <p:txBody>
          <a:bodyPr>
            <a:normAutofit/>
          </a:bodyPr>
          <a:lstStyle/>
          <a:p>
            <a:r>
              <a:rPr sz="7200" dirty="0" err="1">
                <a:solidFill>
                  <a:schemeClr val="accent3">
                    <a:lumMod val="50000"/>
                  </a:schemeClr>
                </a:solidFill>
              </a:rPr>
              <a:t>S</a:t>
            </a:r>
            <a:r>
              <a:rPr sz="7200" dirty="0" err="1">
                <a:solidFill>
                  <a:srgbClr val="00B050"/>
                </a:solidFill>
              </a:rPr>
              <a:t>p</a:t>
            </a:r>
            <a:r>
              <a:rPr sz="7200" dirty="0" err="1">
                <a:solidFill>
                  <a:schemeClr val="accent3">
                    <a:lumMod val="50000"/>
                  </a:schemeClr>
                </a:solidFill>
              </a:rPr>
              <a:t>or</a:t>
            </a:r>
            <a:r>
              <a:rPr sz="7200" dirty="0" err="1">
                <a:solidFill>
                  <a:srgbClr val="00B050"/>
                </a:solidFill>
              </a:rPr>
              <a:t>tL</a:t>
            </a:r>
            <a:r>
              <a:rPr sz="7200" dirty="0" err="1">
                <a:solidFill>
                  <a:schemeClr val="accent3">
                    <a:lumMod val="50000"/>
                  </a:schemeClr>
                </a:solidFill>
              </a:rPr>
              <a:t>in</a:t>
            </a:r>
            <a:r>
              <a:rPr sz="7200" dirty="0" err="1">
                <a:solidFill>
                  <a:srgbClr val="00B050"/>
                </a:solidFill>
              </a:rPr>
              <a:t>k</a:t>
            </a:r>
            <a:r>
              <a:rPr dirty="0"/>
              <a:t> </a:t>
            </a:r>
            <a:br>
              <a:rPr lang="fr-FR" dirty="0"/>
            </a:br>
            <a:r>
              <a:rPr lang="en-US" sz="3100" b="1" u="sng" dirty="0"/>
              <a:t>Portfolio Project</a:t>
            </a:r>
            <a:br>
              <a:rPr lang="en-US" sz="3100" b="1" u="sng" dirty="0"/>
            </a:br>
            <a:r>
              <a:rPr sz="3100" b="1" u="sng" dirty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56225"/>
            <a:ext cx="6400800" cy="1012371"/>
          </a:xfrm>
        </p:spPr>
        <p:txBody>
          <a:bodyPr>
            <a:normAutofit fontScale="92500" lnSpcReduction="20000"/>
          </a:bodyPr>
          <a:lstStyle/>
          <a:p>
            <a:r>
              <a:rPr b="1" u="sng" dirty="0">
                <a:solidFill>
                  <a:schemeClr val="accent3">
                    <a:lumMod val="50000"/>
                  </a:schemeClr>
                </a:solidFill>
              </a:rPr>
              <a:t>Developed </a:t>
            </a:r>
            <a:r>
              <a:rPr lang="fr-FR" b="1" u="sng" dirty="0">
                <a:solidFill>
                  <a:schemeClr val="accent3">
                    <a:lumMod val="50000"/>
                  </a:schemeClr>
                </a:solidFill>
              </a:rPr>
              <a:t>&amp; </a:t>
            </a:r>
            <a:r>
              <a:rPr lang="fr-FR" b="1" u="sng" dirty="0" err="1">
                <a:solidFill>
                  <a:schemeClr val="accent3">
                    <a:lumMod val="50000"/>
                  </a:schemeClr>
                </a:solidFill>
              </a:rPr>
              <a:t>presented</a:t>
            </a:r>
            <a:r>
              <a:rPr lang="fr-FR" b="1" u="sng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b="1" u="sng" dirty="0">
                <a:solidFill>
                  <a:schemeClr val="accent3">
                    <a:lumMod val="50000"/>
                  </a:schemeClr>
                </a:solidFill>
              </a:rPr>
              <a:t>by </a:t>
            </a:r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 </a:t>
            </a:r>
          </a:p>
          <a:p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</a:rPr>
              <a:t>Seifeddine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</a:rPr>
              <a:t>Aaza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, Mohamed Mahla</a:t>
            </a:r>
            <a:endParaRPr sz="16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sz="2000" b="1" u="sng" dirty="0">
                <a:solidFill>
                  <a:schemeClr val="accent3">
                    <a:lumMod val="50000"/>
                  </a:schemeClr>
                </a:solidFill>
              </a:rPr>
              <a:t>Date</a:t>
            </a:r>
            <a:r>
              <a:rPr lang="fr-FR" sz="2000" b="1" u="sng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fr-FR" sz="2000" b="1" dirty="0">
                <a:solidFill>
                  <a:schemeClr val="accent3">
                    <a:lumMod val="50000"/>
                  </a:schemeClr>
                </a:solidFill>
              </a:rPr>
              <a:t>    </a:t>
            </a:r>
            <a:r>
              <a:rPr lang="fr-FR" sz="2000" dirty="0"/>
              <a:t>20-09-2024</a:t>
            </a:r>
            <a:endParaRPr sz="2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685800" y="535622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1BEF236-E697-984E-B0A3-33F149F1A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75" y="3227201"/>
            <a:ext cx="3461649" cy="1895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660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CC5BA6-BB7F-C146-93B6-5205A997F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61177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Public 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68233"/>
          </a:xfrm>
        </p:spPr>
        <p:txBody>
          <a:bodyPr>
            <a:normAutofit/>
          </a:bodyPr>
          <a:lstStyle/>
          <a:p>
            <a:r>
              <a:rPr sz="2400" dirty="0"/>
              <a:t>You can</a:t>
            </a:r>
            <a:r>
              <a:rPr lang="en-US" sz="2400" dirty="0"/>
              <a:t> </a:t>
            </a:r>
            <a:r>
              <a:rPr sz="2400" dirty="0"/>
              <a:t>find the full source code for the project at:</a:t>
            </a:r>
            <a:endParaRPr lang="fr-FR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30D8D1-FD34-A542-8D85-D5399B528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604412"/>
              </p:ext>
            </p:extLst>
          </p:nvPr>
        </p:nvGraphicFramePr>
        <p:xfrm>
          <a:off x="1393372" y="2357531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99297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https://</a:t>
                      </a:r>
                      <a:r>
                        <a:rPr lang="en-US" dirty="0" err="1"/>
                        <a:t>github.com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sportlink</a:t>
                      </a:r>
                      <a:r>
                        <a:rPr lang="en-US" dirty="0"/>
                        <a:t>-app/</a:t>
                      </a:r>
                      <a:r>
                        <a:rPr lang="en-US" dirty="0" err="1"/>
                        <a:t>SportLink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9605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0DE0BF9-2D75-2D4E-A8A8-1A0846DD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07" y="3638004"/>
            <a:ext cx="5846729" cy="258644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B92238-EE37-0F41-8395-A7C325A4F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78580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SportLink</a:t>
            </a:r>
            <a:r>
              <a:rPr dirty="0"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</a:rPr>
              <a:t>S</a:t>
            </a:r>
            <a:r>
              <a:rPr lang="en-US" sz="2400" dirty="0" err="1">
                <a:solidFill>
                  <a:srgbClr val="00B050"/>
                </a:solidFill>
              </a:rPr>
              <a:t>p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</a:rPr>
              <a:t>or</a:t>
            </a:r>
            <a:r>
              <a:rPr lang="en-US" sz="2400" dirty="0" err="1">
                <a:solidFill>
                  <a:srgbClr val="00B050"/>
                </a:solidFill>
              </a:rPr>
              <a:t>tL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</a:rPr>
              <a:t>in</a:t>
            </a:r>
            <a:r>
              <a:rPr lang="en-US" sz="2400" dirty="0" err="1">
                <a:solidFill>
                  <a:srgbClr val="00B050"/>
                </a:solidFill>
              </a:rPr>
              <a:t>k</a:t>
            </a:r>
            <a:r>
              <a:rPr sz="2400" dirty="0"/>
              <a:t> is a platform designed to help athletes connect and organize street games.</a:t>
            </a:r>
          </a:p>
          <a:p>
            <a:r>
              <a:rPr sz="2400" dirty="0"/>
              <a:t>Users can sign up, create profiles, and manage availability.</a:t>
            </a:r>
          </a:p>
          <a:p>
            <a:r>
              <a:rPr sz="2400" dirty="0"/>
              <a:t>Explore incomplete teams, create or join teams, and receive notifications.</a:t>
            </a:r>
          </a:p>
          <a:p>
            <a:r>
              <a:rPr sz="2400" dirty="0"/>
              <a:t>Post articles in the blog section and check top creators.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AAE863-0F99-D548-9126-2F9024F49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692665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1736"/>
            <a:ext cx="8229600" cy="3291522"/>
          </a:xfrm>
        </p:spPr>
        <p:txBody>
          <a:bodyPr/>
          <a:lstStyle/>
          <a:p>
            <a:endParaRPr dirty="0"/>
          </a:p>
          <a:p>
            <a:r>
              <a:rPr sz="2400" dirty="0"/>
              <a:t>Athletes face difficulties in finding teammates for casual or street games.</a:t>
            </a:r>
          </a:p>
          <a:p>
            <a:r>
              <a:rPr sz="2400" dirty="0"/>
              <a:t>Traditional social networks don't provide features specific to athletes' needs.</a:t>
            </a:r>
          </a:p>
          <a:p>
            <a:r>
              <a:rPr sz="2400" dirty="0" err="1"/>
              <a:t>SportLink</a:t>
            </a:r>
            <a:r>
              <a:rPr sz="2400" dirty="0"/>
              <a:t> fills this gap by providing a platform tailored to organizing and joining local games.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8B37A6-D169-E34F-B12A-B37A5C983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184091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15046"/>
          </a:xfrm>
        </p:spPr>
        <p:txBody>
          <a:bodyPr/>
          <a:lstStyle/>
          <a:p>
            <a:endParaRPr dirty="0"/>
          </a:p>
          <a:p>
            <a:r>
              <a:rPr sz="2400" dirty="0"/>
              <a:t>A platform that allows athletes to connect, manage availability, and create or join teams.</a:t>
            </a:r>
          </a:p>
          <a:p>
            <a:r>
              <a:rPr sz="2400" dirty="0"/>
              <a:t>Personalized notifications for joining teams and completing teams.</a:t>
            </a:r>
          </a:p>
          <a:p>
            <a:r>
              <a:rPr sz="2400" dirty="0"/>
              <a:t>A blog feature to engage users and highlight top creators.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45010"/>
            <a:ext cx="7772400" cy="2508069"/>
          </a:xfrm>
        </p:spPr>
        <p:txBody>
          <a:bodyPr>
            <a:normAutofit/>
          </a:bodyPr>
          <a:lstStyle/>
          <a:p>
            <a:r>
              <a:rPr lang="en-US" sz="7200" u="sng" dirty="0"/>
              <a:t>Directory Structure:</a:t>
            </a:r>
            <a:endParaRPr sz="3100" b="1" u="sn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571500" y="6113871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4D1714-DB06-EB46-AAD7-0C85528126BD}"/>
              </a:ext>
            </a:extLst>
          </p:cNvPr>
          <p:cNvCxnSpPr/>
          <p:nvPr/>
        </p:nvCxnSpPr>
        <p:spPr>
          <a:xfrm>
            <a:off x="554081" y="225596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D94AA37-DA11-0340-896F-9AB87177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79" y="4467951"/>
            <a:ext cx="7162800" cy="13193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420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A98ABD-5823-FF4E-989E-A1B6176B0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187708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Server-Side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95E0B1-416B-1D47-86C1-DB438BEBC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7" y="1613582"/>
            <a:ext cx="8752027" cy="50354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2903D2-AB01-6A46-AF00-A6E7B4C5C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265238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(Server)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1660"/>
            <a:ext cx="8229600" cy="3154680"/>
          </a:xfrm>
        </p:spPr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Flask: The web framework used to build the backend.</a:t>
            </a:r>
          </a:p>
          <a:p>
            <a:r>
              <a:rPr sz="2400" dirty="0" err="1"/>
              <a:t>SQLAlchemy</a:t>
            </a:r>
            <a:r>
              <a:rPr sz="2400" dirty="0"/>
              <a:t>: ORM for database management.</a:t>
            </a:r>
          </a:p>
          <a:p>
            <a:r>
              <a:rPr sz="2400" dirty="0"/>
              <a:t>Flask-Migrate: For handling database migrations with Alembic.</a:t>
            </a:r>
          </a:p>
          <a:p>
            <a:r>
              <a:rPr sz="2400" dirty="0" err="1"/>
              <a:t>Gunicorn</a:t>
            </a:r>
            <a:r>
              <a:rPr sz="2400" dirty="0"/>
              <a:t>: WSGI HTTP server for production deployment.</a:t>
            </a:r>
          </a:p>
          <a:p>
            <a:r>
              <a:rPr sz="2400" dirty="0"/>
              <a:t>Psycopg2: PostgreSQL database adapter.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503B22-3E6B-514C-8107-4710173CA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688912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Client-</a:t>
            </a:r>
            <a:r>
              <a:rPr lang="fr-FR" dirty="0" err="1"/>
              <a:t>Side</a:t>
            </a:r>
            <a:r>
              <a:rPr dirty="0"/>
              <a:t> </a:t>
            </a:r>
            <a:r>
              <a:rPr lang="en-US" dirty="0"/>
              <a:t>Architecture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EC119-8F8C-D74F-B234-0B2346A9E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76" y="1604962"/>
            <a:ext cx="7790907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E4DFC-2851-D241-82E9-9E30143B1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112834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5" y="1962694"/>
            <a:ext cx="9000309" cy="2932611"/>
          </a:xfrm>
        </p:spPr>
        <p:txBody>
          <a:bodyPr/>
          <a:lstStyle/>
          <a:p>
            <a:endParaRPr dirty="0"/>
          </a:p>
          <a:p>
            <a:r>
              <a:rPr sz="2400" dirty="0"/>
              <a:t>RESTful APIs for handling user management (signup, login, profile).</a:t>
            </a:r>
          </a:p>
          <a:p>
            <a:r>
              <a:rPr sz="2400" dirty="0"/>
              <a:t>JWT authentication for secure access to the API.</a:t>
            </a:r>
          </a:p>
          <a:p>
            <a:r>
              <a:rPr sz="2400" dirty="0"/>
              <a:t>Notifications API for sending and receiving notifications about team events.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173783-619F-7146-AC93-248DF60AE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866012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(Client)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sz="2600" dirty="0"/>
              <a:t>React: Used for building the frontend user interface.</a:t>
            </a:r>
          </a:p>
          <a:p>
            <a:r>
              <a:rPr sz="2600" dirty="0" err="1"/>
              <a:t>Vite</a:t>
            </a:r>
            <a:r>
              <a:rPr sz="2600" dirty="0"/>
              <a:t>: A fast build tool for bundling the frontend.</a:t>
            </a:r>
          </a:p>
          <a:p>
            <a:r>
              <a:rPr sz="2600" dirty="0" err="1"/>
              <a:t>Zustand</a:t>
            </a:r>
            <a:r>
              <a:rPr sz="2600" dirty="0"/>
              <a:t>: Lightweight state management for React.</a:t>
            </a:r>
          </a:p>
          <a:p>
            <a:r>
              <a:rPr sz="2600" dirty="0" err="1"/>
              <a:t>Axios</a:t>
            </a:r>
            <a:r>
              <a:rPr sz="2600" dirty="0"/>
              <a:t>: For handling HTTP requests to the server API.</a:t>
            </a:r>
          </a:p>
          <a:p>
            <a:r>
              <a:rPr sz="2600" dirty="0" err="1"/>
              <a:t>TailwindCSS</a:t>
            </a:r>
            <a:r>
              <a:rPr sz="2600" dirty="0"/>
              <a:t>: Utility-first CSS framework for fast styling.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45010"/>
            <a:ext cx="7772400" cy="2508069"/>
          </a:xfrm>
        </p:spPr>
        <p:txBody>
          <a:bodyPr>
            <a:normAutofit/>
          </a:bodyPr>
          <a:lstStyle/>
          <a:p>
            <a:r>
              <a:rPr lang="en-US" dirty="0"/>
              <a:t>Report of developments</a:t>
            </a:r>
            <a:endParaRPr sz="3100" b="1" u="sn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554081" y="4814343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4D1714-DB06-EB46-AAD7-0C85528126BD}"/>
              </a:ext>
            </a:extLst>
          </p:cNvPr>
          <p:cNvCxnSpPr/>
          <p:nvPr/>
        </p:nvCxnSpPr>
        <p:spPr>
          <a:xfrm>
            <a:off x="554081" y="225596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72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5DC10-B22C-6148-856E-B82571AC6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935549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9070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sz="2400" dirty="0"/>
              <a:t>Full API Development: Implemented APIs for signup, login, user profiles, and notifications.</a:t>
            </a:r>
          </a:p>
          <a:p>
            <a:r>
              <a:rPr sz="2400" dirty="0"/>
              <a:t>JWT Authentication: Secure authentication and session management.</a:t>
            </a:r>
          </a:p>
          <a:p>
            <a:r>
              <a:rPr sz="2400" dirty="0"/>
              <a:t>Error Handling: Implemented detailed error messages for sign-up and login.</a:t>
            </a:r>
          </a:p>
          <a:p>
            <a:r>
              <a:rPr sz="2400" dirty="0"/>
              <a:t>Deployment: Successfully deployed both the client and server on Render</a:t>
            </a:r>
            <a:r>
              <a:rPr lang="fr-FR" sz="2400" dirty="0"/>
              <a:t>(</a:t>
            </a:r>
            <a:r>
              <a:rPr lang="fr-FR" sz="2400" dirty="0" err="1"/>
              <a:t>just</a:t>
            </a:r>
            <a:r>
              <a:rPr lang="fr-FR" sz="2400" dirty="0"/>
              <a:t> first version)</a:t>
            </a:r>
            <a:r>
              <a:rPr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2951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93227-37CA-C245-BFEF-3B52F7E30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35063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Deployment Issues: Faced challenges with database migrations on Render.</a:t>
            </a:r>
          </a:p>
          <a:p>
            <a:r>
              <a:rPr sz="2400" dirty="0"/>
              <a:t>State Management: Handling user profile states across different routes.</a:t>
            </a:r>
          </a:p>
          <a:p>
            <a:r>
              <a:rPr sz="2400" dirty="0"/>
              <a:t>Token Management: Ensuring proper JWT token usage and validation across routes.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650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5BA7D-6BFA-3443-B4D5-36CC55F1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769230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11434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sz="2400" dirty="0"/>
              <a:t>Better Error Handling: Improve user feedback with specific error messages for various conditions.</a:t>
            </a:r>
          </a:p>
          <a:p>
            <a:r>
              <a:rPr sz="2400" dirty="0"/>
              <a:t>Pagination: Add pagination to handle large datasets in user search and teams.</a:t>
            </a:r>
          </a:p>
          <a:p>
            <a:r>
              <a:rPr sz="2400" dirty="0"/>
              <a:t>Security Enhancements: Implement rate-limiting and better input validation to prevent abuse.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501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ACB270-8CC5-7E48-A7A1-F65039219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9839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98371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sz="2400" dirty="0"/>
              <a:t>Importance of Clear Version Control: Effective collaboration with GitHub.</a:t>
            </a:r>
          </a:p>
          <a:p>
            <a:r>
              <a:rPr sz="2400" dirty="0"/>
              <a:t>Managing State: Learned the challenges of managing user states between frontend and backend.</a:t>
            </a:r>
          </a:p>
          <a:p>
            <a:r>
              <a:rPr sz="2400" dirty="0"/>
              <a:t>Deployment Experience: Gained insight into deploying apps on cloud platforms and handling database migrations.</a:t>
            </a:r>
          </a:p>
        </p:txBody>
      </p:sp>
    </p:spTree>
    <p:extLst>
      <p:ext uri="{BB962C8B-B14F-4D97-AF65-F5344CB8AC3E}">
        <p14:creationId xmlns:p14="http://schemas.microsoft.com/office/powerpoint/2010/main" val="3589105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8EB970-2F69-CD43-ACD5-5A78F578F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621900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1069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sz="2400" dirty="0"/>
              <a:t>Caching: Implement Redis for session management.</a:t>
            </a:r>
          </a:p>
          <a:p>
            <a:r>
              <a:rPr sz="2400" dirty="0"/>
              <a:t>Unit Testing: Add unit tests for key functionalities and API endpoints.</a:t>
            </a:r>
          </a:p>
          <a:p>
            <a:r>
              <a:rPr sz="2400" dirty="0"/>
              <a:t>Monitoring: Set up Datadog for performance monitoring and error tracking.</a:t>
            </a:r>
          </a:p>
          <a:p>
            <a:r>
              <a:rPr sz="2400" dirty="0"/>
              <a:t>User Feedback: Gather feedback from users and improve the user experience.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466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FD1700-A548-8B4C-91F3-459A75E51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95510"/>
              </p:ext>
            </p:extLst>
          </p:nvPr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25AF0C-58EB-BB43-BA35-D77929292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773019"/>
              </p:ext>
            </p:extLst>
          </p:nvPr>
        </p:nvGraphicFramePr>
        <p:xfrm>
          <a:off x="13061" y="13062"/>
          <a:ext cx="9117876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17876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</a:t>
            </a:r>
            <a:r>
              <a:rPr lang="en-US" dirty="0" err="1">
                <a:solidFill>
                  <a:srgbClr val="00B050"/>
                </a:solidFill>
              </a:rPr>
              <a:t>p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or</a:t>
            </a:r>
            <a:r>
              <a:rPr lang="en-US" dirty="0" err="1">
                <a:solidFill>
                  <a:srgbClr val="00B050"/>
                </a:solidFill>
              </a:rPr>
              <a:t>tL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in</a:t>
            </a:r>
            <a:r>
              <a:rPr lang="en-US" dirty="0" err="1">
                <a:solidFill>
                  <a:srgbClr val="00B050"/>
                </a:solidFill>
              </a:rPr>
              <a:t>k</a:t>
            </a:r>
            <a:r>
              <a:rPr dirty="0"/>
              <a:t> provides a complete solution for connecting athletes and organizing street games.</a:t>
            </a:r>
          </a:p>
          <a:p>
            <a:r>
              <a:rPr dirty="0"/>
              <a:t>The project showcases the use of modern technologies like React, Flask, </a:t>
            </a:r>
            <a:r>
              <a:rPr dirty="0" err="1"/>
              <a:t>SQLAlchemy</a:t>
            </a:r>
            <a:r>
              <a:rPr dirty="0"/>
              <a:t>, and JWT.</a:t>
            </a:r>
          </a:p>
          <a:p>
            <a:r>
              <a:rPr dirty="0"/>
              <a:t>Next steps: Improve user experience, add more sports-related features, and scale the platform.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635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599</Words>
  <Application>Microsoft Macintosh PowerPoint</Application>
  <PresentationFormat>On-screen Show (4:3)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SportLink  Portfolio Project Presentation</vt:lpstr>
      <vt:lpstr>Public GitHub Repository</vt:lpstr>
      <vt:lpstr>SportLink Overview</vt:lpstr>
      <vt:lpstr>Problem Statement</vt:lpstr>
      <vt:lpstr>Solution</vt:lpstr>
      <vt:lpstr>Directory Structure:</vt:lpstr>
      <vt:lpstr>Server-Side Architecture</vt:lpstr>
      <vt:lpstr>Technologies Used (Server)</vt:lpstr>
      <vt:lpstr>Client-Side Architecture</vt:lpstr>
      <vt:lpstr>API Development</vt:lpstr>
      <vt:lpstr>Technologies Used (Client)</vt:lpstr>
      <vt:lpstr>Report of developments</vt:lpstr>
      <vt:lpstr>Successes</vt:lpstr>
      <vt:lpstr>Challenges</vt:lpstr>
      <vt:lpstr>Areas for Improvement</vt:lpstr>
      <vt:lpstr>Lessons Learned</vt:lpstr>
      <vt:lpstr>Next Steps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SportLink  Portfolio Project Presentation</dc:title>
  <dc:subject/>
  <dc:creator/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2024-09-20T15:13:06Z</dcterms:modified>
  <cp:category/>
</cp:coreProperties>
</file>