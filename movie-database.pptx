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81" r:id="rId3"/>
    <p:sldId id="257" r:id="rId4"/>
    <p:sldId id="258" r:id="rId5"/>
    <p:sldId id="259" r:id="rId6"/>
    <p:sldId id="260" r:id="rId7"/>
    <p:sldId id="278" r:id="rId8"/>
    <p:sldId id="262" r:id="rId9"/>
    <p:sldId id="280" r:id="rId10"/>
    <p:sldId id="264" r:id="rId11"/>
    <p:sldId id="265" r:id="rId12"/>
    <p:sldId id="279" r:id="rId13"/>
    <p:sldId id="273" r:id="rId14"/>
    <p:sldId id="274" r:id="rId15"/>
    <p:sldId id="275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86"/>
  </p:normalViewPr>
  <p:slideViewPr>
    <p:cSldViewPr snapToGrid="0" snapToObjects="1">
      <p:cViewPr varScale="1">
        <p:scale>
          <a:sx n="98" d="100"/>
          <a:sy n="98" d="100"/>
        </p:scale>
        <p:origin x="14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5998DC-871D-0948-95AE-1FC72A93B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255946"/>
              </p:ext>
            </p:extLst>
          </p:nvPr>
        </p:nvGraphicFramePr>
        <p:xfrm>
          <a:off x="0" y="-1"/>
          <a:ext cx="9144000" cy="6858001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685800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9404"/>
            <a:ext cx="7772400" cy="2508069"/>
          </a:xfrm>
        </p:spPr>
        <p:txBody>
          <a:bodyPr>
            <a:normAutofit/>
          </a:bodyPr>
          <a:lstStyle/>
          <a:p>
            <a:r>
              <a:rPr lang="fr-FR" sz="7200" dirty="0" err="1">
                <a:solidFill>
                  <a:schemeClr val="accent3">
                    <a:lumMod val="50000"/>
                  </a:schemeClr>
                </a:solidFill>
              </a:rPr>
              <a:t>Movie-Database</a:t>
            </a:r>
            <a:r>
              <a:rPr dirty="0"/>
              <a:t> </a:t>
            </a:r>
            <a:br>
              <a:rPr lang="fr-FR" dirty="0"/>
            </a:br>
            <a:r>
              <a:rPr lang="en-US" sz="3100" b="1" u="sng" dirty="0"/>
              <a:t>Capstone Project</a:t>
            </a:r>
            <a:br>
              <a:rPr lang="en-US" sz="3100" b="1" u="sng" dirty="0"/>
            </a:br>
            <a:r>
              <a:rPr sz="3100" b="1" u="sng" dirty="0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356225"/>
            <a:ext cx="6400800" cy="1012371"/>
          </a:xfrm>
        </p:spPr>
        <p:txBody>
          <a:bodyPr>
            <a:normAutofit fontScale="92500" lnSpcReduction="20000"/>
          </a:bodyPr>
          <a:lstStyle/>
          <a:p>
            <a:r>
              <a:rPr b="1" u="sng" dirty="0">
                <a:solidFill>
                  <a:schemeClr val="accent3">
                    <a:lumMod val="50000"/>
                  </a:schemeClr>
                </a:solidFill>
              </a:rPr>
              <a:t>Developed </a:t>
            </a:r>
            <a:r>
              <a:rPr lang="fr-FR" b="1" u="sng" dirty="0">
                <a:solidFill>
                  <a:schemeClr val="accent3">
                    <a:lumMod val="50000"/>
                  </a:schemeClr>
                </a:solidFill>
              </a:rPr>
              <a:t>&amp; </a:t>
            </a:r>
            <a:r>
              <a:rPr lang="fr-FR" b="1" u="sng" dirty="0" err="1">
                <a:solidFill>
                  <a:schemeClr val="accent3">
                    <a:lumMod val="50000"/>
                  </a:schemeClr>
                </a:solidFill>
              </a:rPr>
              <a:t>presented</a:t>
            </a:r>
            <a:r>
              <a:rPr lang="fr-FR" b="1" u="sng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b="1" u="sng" dirty="0">
                <a:solidFill>
                  <a:schemeClr val="accent3">
                    <a:lumMod val="50000"/>
                  </a:schemeClr>
                </a:solidFill>
              </a:rPr>
              <a:t>by </a:t>
            </a:r>
            <a:r>
              <a:rPr lang="fr-FR" b="1" dirty="0">
                <a:solidFill>
                  <a:schemeClr val="accent3">
                    <a:lumMod val="50000"/>
                  </a:schemeClr>
                </a:solidFill>
              </a:rPr>
              <a:t>: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 </a:t>
            </a:r>
          </a:p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Mohamed Mahla</a:t>
            </a:r>
            <a:endParaRPr sz="16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sz="2000" b="1" u="sng" dirty="0">
                <a:solidFill>
                  <a:schemeClr val="accent3">
                    <a:lumMod val="50000"/>
                  </a:schemeClr>
                </a:solidFill>
              </a:rPr>
              <a:t>Date</a:t>
            </a:r>
            <a:r>
              <a:rPr lang="fr-FR" sz="20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</a:rPr>
              <a:t>:</a:t>
            </a:r>
            <a:r>
              <a:rPr lang="fr-FR" sz="2000" b="1" dirty="0">
                <a:solidFill>
                  <a:schemeClr val="accent3">
                    <a:lumMod val="50000"/>
                  </a:schemeClr>
                </a:solidFill>
              </a:rPr>
              <a:t>    14</a:t>
            </a:r>
            <a:r>
              <a:rPr lang="fr-FR" sz="2000" dirty="0"/>
              <a:t>-01-2025</a:t>
            </a:r>
            <a:endParaRPr sz="2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F40B4B-6C72-1043-939A-D4606823D2C4}"/>
              </a:ext>
            </a:extLst>
          </p:cNvPr>
          <p:cNvCxnSpPr/>
          <p:nvPr/>
        </p:nvCxnSpPr>
        <p:spPr>
          <a:xfrm>
            <a:off x="685800" y="5356225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CCFC612-2A6D-C64C-B26F-CBB403B2A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077" y="2946130"/>
            <a:ext cx="4763846" cy="223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02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5998DC-871D-0948-95AE-1FC72A93B652}"/>
              </a:ext>
            </a:extLst>
          </p:cNvPr>
          <p:cNvGraphicFramePr>
            <a:graphicFrameLocks noGrp="1"/>
          </p:cNvGraphicFramePr>
          <p:nvPr/>
        </p:nvGraphicFramePr>
        <p:xfrm>
          <a:off x="0" y="-1"/>
          <a:ext cx="9144000" cy="6858001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685800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9404"/>
            <a:ext cx="7772400" cy="2508069"/>
          </a:xfrm>
        </p:spPr>
        <p:txBody>
          <a:bodyPr>
            <a:normAutofit/>
          </a:bodyPr>
          <a:lstStyle/>
          <a:p>
            <a:r>
              <a:rPr lang="fr-FR" sz="7200" dirty="0" err="1">
                <a:solidFill>
                  <a:schemeClr val="accent3">
                    <a:lumMod val="50000"/>
                  </a:schemeClr>
                </a:solidFill>
              </a:rPr>
              <a:t>Movie-Database</a:t>
            </a:r>
            <a:r>
              <a:rPr dirty="0"/>
              <a:t> </a:t>
            </a:r>
            <a:br>
              <a:rPr lang="fr-FR" dirty="0"/>
            </a:br>
            <a:r>
              <a:rPr lang="en-US" sz="3100" b="1" u="sng" dirty="0"/>
              <a:t>Capstone Project</a:t>
            </a:r>
            <a:br>
              <a:rPr lang="en-US" sz="3100" b="1" u="sng" dirty="0"/>
            </a:br>
            <a:r>
              <a:rPr sz="3100" b="1" u="sng" dirty="0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356225"/>
            <a:ext cx="6400800" cy="1012371"/>
          </a:xfrm>
        </p:spPr>
        <p:txBody>
          <a:bodyPr>
            <a:normAutofit fontScale="92500" lnSpcReduction="20000"/>
          </a:bodyPr>
          <a:lstStyle/>
          <a:p>
            <a:r>
              <a:rPr b="1" u="sng" dirty="0">
                <a:solidFill>
                  <a:schemeClr val="accent3">
                    <a:lumMod val="50000"/>
                  </a:schemeClr>
                </a:solidFill>
              </a:rPr>
              <a:t>Developed </a:t>
            </a:r>
            <a:r>
              <a:rPr lang="fr-FR" b="1" u="sng" dirty="0">
                <a:solidFill>
                  <a:schemeClr val="accent3">
                    <a:lumMod val="50000"/>
                  </a:schemeClr>
                </a:solidFill>
              </a:rPr>
              <a:t>&amp; </a:t>
            </a:r>
            <a:r>
              <a:rPr lang="fr-FR" b="1" u="sng" dirty="0" err="1">
                <a:solidFill>
                  <a:schemeClr val="accent3">
                    <a:lumMod val="50000"/>
                  </a:schemeClr>
                </a:solidFill>
              </a:rPr>
              <a:t>presented</a:t>
            </a:r>
            <a:r>
              <a:rPr lang="fr-FR" b="1" u="sng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b="1" u="sng" dirty="0">
                <a:solidFill>
                  <a:schemeClr val="accent3">
                    <a:lumMod val="50000"/>
                  </a:schemeClr>
                </a:solidFill>
              </a:rPr>
              <a:t>by </a:t>
            </a:r>
            <a:r>
              <a:rPr lang="fr-FR" b="1" dirty="0">
                <a:solidFill>
                  <a:schemeClr val="accent3">
                    <a:lumMod val="50000"/>
                  </a:schemeClr>
                </a:solidFill>
              </a:rPr>
              <a:t>: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 </a:t>
            </a:r>
          </a:p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Mohamed Mahla</a:t>
            </a:r>
            <a:endParaRPr sz="16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sz="2000" b="1" u="sng" dirty="0">
                <a:solidFill>
                  <a:schemeClr val="accent3">
                    <a:lumMod val="50000"/>
                  </a:schemeClr>
                </a:solidFill>
              </a:rPr>
              <a:t>Date</a:t>
            </a:r>
            <a:r>
              <a:rPr lang="fr-FR" sz="2000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</a:rPr>
              <a:t>:</a:t>
            </a:r>
            <a:r>
              <a:rPr lang="fr-FR" sz="2000" b="1" dirty="0">
                <a:solidFill>
                  <a:schemeClr val="accent3">
                    <a:lumMod val="50000"/>
                  </a:schemeClr>
                </a:solidFill>
              </a:rPr>
              <a:t>    14</a:t>
            </a:r>
            <a:r>
              <a:rPr lang="fr-FR" sz="2000" dirty="0"/>
              <a:t>-01-2025</a:t>
            </a:r>
            <a:endParaRPr sz="2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F40B4B-6C72-1043-939A-D4606823D2C4}"/>
              </a:ext>
            </a:extLst>
          </p:cNvPr>
          <p:cNvCxnSpPr/>
          <p:nvPr/>
        </p:nvCxnSpPr>
        <p:spPr>
          <a:xfrm>
            <a:off x="685800" y="5356225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CCFC612-2A6D-C64C-B26F-CBB403B2A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077" y="2946130"/>
            <a:ext cx="4763846" cy="22312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3F70BE-4108-2245-A39B-F382AE80A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43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CC5BA6-BB7F-C146-93B6-5205A997F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061177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Public 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68233"/>
          </a:xfrm>
        </p:spPr>
        <p:txBody>
          <a:bodyPr>
            <a:normAutofit/>
          </a:bodyPr>
          <a:lstStyle/>
          <a:p>
            <a:r>
              <a:rPr sz="2400" dirty="0"/>
              <a:t>You can</a:t>
            </a:r>
            <a:r>
              <a:rPr lang="en-US" sz="2400" dirty="0"/>
              <a:t> </a:t>
            </a:r>
            <a:r>
              <a:rPr sz="2400" dirty="0"/>
              <a:t>find the full source code for the project at:</a:t>
            </a:r>
            <a:endParaRPr lang="fr-FR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30D8D1-FD34-A542-8D85-D5399B528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802203"/>
              </p:ext>
            </p:extLst>
          </p:nvPr>
        </p:nvGraphicFramePr>
        <p:xfrm>
          <a:off x="1393372" y="2357531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992973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https://</a:t>
                      </a:r>
                      <a:r>
                        <a:rPr lang="en-US" dirty="0" err="1"/>
                        <a:t>github.com</a:t>
                      </a:r>
                      <a:r>
                        <a:rPr lang="en-US" dirty="0"/>
                        <a:t>/simoowolf8/movie-databasev2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96051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2D27BF1-B052-5344-AAF0-F833B831D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079989"/>
            <a:ext cx="6096000" cy="37780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B92238-EE37-0F41-8395-A7C325A4F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478580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accent3">
                    <a:lumMod val="50000"/>
                  </a:schemeClr>
                </a:solidFill>
              </a:rPr>
              <a:t>Movie-Database</a:t>
            </a:r>
            <a:r>
              <a:rPr dirty="0"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Movie-Database</a:t>
            </a:r>
            <a:r>
              <a:rPr lang="en-US" dirty="0"/>
              <a:t> is an application designed to help users search, explore, and manage movie collections.</a:t>
            </a:r>
          </a:p>
          <a:p>
            <a:r>
              <a:rPr lang="en-US" dirty="0"/>
              <a:t>Users can:</a:t>
            </a:r>
          </a:p>
          <a:p>
            <a:pPr lvl="1"/>
            <a:r>
              <a:rPr lang="en-US" dirty="0"/>
              <a:t>Search movies using titles and view detailed information.</a:t>
            </a:r>
          </a:p>
          <a:p>
            <a:pPr lvl="1"/>
            <a:r>
              <a:rPr lang="en-US" dirty="0"/>
              <a:t>Add or remove movies from their favorites.</a:t>
            </a:r>
          </a:p>
          <a:p>
            <a:pPr lvl="1"/>
            <a:r>
              <a:rPr lang="en-US" dirty="0"/>
              <a:t>Switch between languages (English, French, Spanish).</a:t>
            </a:r>
          </a:p>
          <a:p>
            <a:r>
              <a:rPr lang="en-US" dirty="0"/>
              <a:t>The app includes:</a:t>
            </a:r>
          </a:p>
          <a:p>
            <a:pPr lvl="1"/>
            <a:r>
              <a:rPr lang="en-US" dirty="0"/>
              <a:t>Pagination for browsing results efficiently.</a:t>
            </a:r>
          </a:p>
          <a:p>
            <a:pPr lvl="1"/>
            <a:r>
              <a:rPr lang="en-US" dirty="0"/>
              <a:t>A dedicated favorites section to manage saved movies.</a:t>
            </a:r>
          </a:p>
          <a:p>
            <a:pPr lvl="1"/>
            <a:r>
              <a:rPr lang="en-US" dirty="0"/>
              <a:t>A good user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AAE863-0F99-D548-9126-2F9024F49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692665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1736"/>
            <a:ext cx="8229600" cy="329152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Movie enthusiasts struggle to find a convenient platform </a:t>
            </a:r>
            <a:r>
              <a:rPr lang="en-US" dirty="0" err="1"/>
              <a:t>to:Search</a:t>
            </a:r>
            <a:r>
              <a:rPr lang="en-US" dirty="0"/>
              <a:t> for movies and access detailed information.</a:t>
            </a:r>
          </a:p>
          <a:p>
            <a:r>
              <a:rPr lang="en-US" dirty="0"/>
              <a:t>Save their favorite movies for later reference.</a:t>
            </a:r>
          </a:p>
          <a:p>
            <a:r>
              <a:rPr lang="en-US" dirty="0"/>
              <a:t>Navigate a user-friendly interface with localized language support.</a:t>
            </a:r>
          </a:p>
          <a:p>
            <a:r>
              <a:rPr lang="en-US" dirty="0"/>
              <a:t>Existing platforms may lack customization options such </a:t>
            </a:r>
            <a:r>
              <a:rPr lang="en-US" dirty="0" err="1"/>
              <a:t>as:Multilingual</a:t>
            </a:r>
            <a:r>
              <a:rPr lang="en-US" dirty="0"/>
              <a:t> support.</a:t>
            </a:r>
          </a:p>
          <a:p>
            <a:r>
              <a:rPr lang="en-US" dirty="0"/>
              <a:t>Pagination for better browsing.</a:t>
            </a:r>
          </a:p>
          <a:p>
            <a:r>
              <a:rPr lang="en-US" dirty="0"/>
              <a:t>Dedicated sections for managing favorite movies.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8B37A6-D169-E34F-B12A-B37A5C983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184091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9114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user-friendly movie database platform</a:t>
            </a:r>
            <a:r>
              <a:rPr lang="en-US" dirty="0"/>
              <a:t> that provides:</a:t>
            </a:r>
          </a:p>
          <a:p>
            <a:r>
              <a:rPr lang="en-US" b="1" dirty="0"/>
              <a:t>Efficient movie search</a:t>
            </a:r>
            <a:r>
              <a:rPr lang="en-US" dirty="0"/>
              <a:t> with detailed information.</a:t>
            </a:r>
          </a:p>
          <a:p>
            <a:r>
              <a:rPr lang="en-US" dirty="0"/>
              <a:t>Ability to </a:t>
            </a:r>
            <a:r>
              <a:rPr lang="en-US" b="1" dirty="0"/>
              <a:t>save favorite movies</a:t>
            </a:r>
            <a:r>
              <a:rPr lang="en-US" dirty="0"/>
              <a:t> for future reference.</a:t>
            </a:r>
          </a:p>
          <a:p>
            <a:r>
              <a:rPr lang="en-US" dirty="0"/>
              <a:t>Support for </a:t>
            </a:r>
            <a:r>
              <a:rPr lang="en-US" b="1" dirty="0"/>
              <a:t>multiple languages</a:t>
            </a:r>
            <a:r>
              <a:rPr lang="en-US" dirty="0"/>
              <a:t> (English, French, Spanish).</a:t>
            </a:r>
          </a:p>
          <a:p>
            <a:r>
              <a:rPr lang="en-US" b="1" dirty="0"/>
              <a:t>Enhanced User Experience</a:t>
            </a:r>
            <a:r>
              <a:rPr lang="en-US" dirty="0"/>
              <a:t>:</a:t>
            </a:r>
          </a:p>
          <a:p>
            <a:r>
              <a:rPr lang="en-US" dirty="0"/>
              <a:t>Pagination for smooth browsing of search results.</a:t>
            </a:r>
          </a:p>
          <a:p>
            <a:r>
              <a:rPr lang="en-US" dirty="0"/>
              <a:t>Localized content for diverse audiences.</a:t>
            </a:r>
          </a:p>
          <a:p>
            <a:r>
              <a:rPr lang="en-US" dirty="0"/>
              <a:t>Dark and light mode for better accessibility.</a:t>
            </a:r>
          </a:p>
          <a:p>
            <a:r>
              <a:rPr lang="en-US" b="1" dirty="0"/>
              <a:t>Modern Features</a:t>
            </a:r>
            <a:r>
              <a:rPr lang="en-US" dirty="0"/>
              <a:t>:</a:t>
            </a:r>
          </a:p>
          <a:p>
            <a:r>
              <a:rPr lang="en-US" dirty="0"/>
              <a:t>Integration with </a:t>
            </a:r>
            <a:r>
              <a:rPr lang="en-US" b="1" dirty="0"/>
              <a:t>React Helmet</a:t>
            </a:r>
            <a:r>
              <a:rPr lang="en-US" dirty="0"/>
              <a:t> and </a:t>
            </a:r>
            <a:r>
              <a:rPr lang="en-US" b="1" dirty="0" err="1"/>
              <a:t>OpenGraph</a:t>
            </a:r>
            <a:r>
              <a:rPr lang="en-US" b="1" dirty="0"/>
              <a:t> tags</a:t>
            </a:r>
            <a:r>
              <a:rPr lang="en-US" dirty="0"/>
              <a:t> for improved SEO.</a:t>
            </a:r>
          </a:p>
          <a:p>
            <a:r>
              <a:rPr lang="en-US" dirty="0"/>
              <a:t>Social sharing buttons for movie promotion.</a:t>
            </a:r>
          </a:p>
          <a:p>
            <a:r>
              <a:rPr lang="en-US" b="1" dirty="0"/>
              <a:t>Favorites management</a:t>
            </a:r>
            <a:r>
              <a:rPr lang="en-US" dirty="0"/>
              <a:t> with </a:t>
            </a:r>
            <a:r>
              <a:rPr lang="en-US" dirty="0" err="1"/>
              <a:t>localStorage</a:t>
            </a:r>
            <a:r>
              <a:rPr lang="en-US" dirty="0"/>
              <a:t> or database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5998DC-871D-0948-95AE-1FC72A93B652}"/>
              </a:ext>
            </a:extLst>
          </p:cNvPr>
          <p:cNvGraphicFramePr>
            <a:graphicFrameLocks noGrp="1"/>
          </p:cNvGraphicFramePr>
          <p:nvPr/>
        </p:nvGraphicFramePr>
        <p:xfrm>
          <a:off x="0" y="-1"/>
          <a:ext cx="9144000" cy="6858001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685800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45010"/>
            <a:ext cx="7772400" cy="2508069"/>
          </a:xfrm>
        </p:spPr>
        <p:txBody>
          <a:bodyPr>
            <a:normAutofit/>
          </a:bodyPr>
          <a:lstStyle/>
          <a:p>
            <a:r>
              <a:rPr lang="en-US" sz="7200" u="sng" dirty="0"/>
              <a:t>Directory Structure:</a:t>
            </a:r>
            <a:endParaRPr sz="3100" b="1" u="sng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F40B4B-6C72-1043-939A-D4606823D2C4}"/>
              </a:ext>
            </a:extLst>
          </p:cNvPr>
          <p:cNvCxnSpPr/>
          <p:nvPr/>
        </p:nvCxnSpPr>
        <p:spPr>
          <a:xfrm>
            <a:off x="571500" y="6113871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4D1714-DB06-EB46-AAD7-0C85528126BD}"/>
              </a:ext>
            </a:extLst>
          </p:cNvPr>
          <p:cNvCxnSpPr/>
          <p:nvPr/>
        </p:nvCxnSpPr>
        <p:spPr>
          <a:xfrm>
            <a:off x="554081" y="2255965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209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A98ABD-5823-FF4E-989E-A1B6176B0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187708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Directory</a:t>
            </a:r>
            <a:r>
              <a:rPr dirty="0"/>
              <a:t>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4E2886-8200-FC47-BD3E-9C78D722EA6E}"/>
              </a:ext>
            </a:extLst>
          </p:cNvPr>
          <p:cNvSpPr/>
          <p:nvPr/>
        </p:nvSpPr>
        <p:spPr>
          <a:xfrm>
            <a:off x="104502" y="1271855"/>
            <a:ext cx="858229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 err="1"/>
              <a:t>src</a:t>
            </a:r>
            <a:r>
              <a:rPr lang="en-US" b="1" dirty="0"/>
              <a:t> Folder: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components:</a:t>
            </a:r>
            <a:endParaRPr lang="en-US" dirty="0"/>
          </a:p>
          <a:p>
            <a:pPr marL="1143000" lvl="2" indent="-228600">
              <a:buFont typeface="+mj-lt"/>
              <a:buAutoNum type="arabicPeriod"/>
            </a:pPr>
            <a:r>
              <a:rPr lang="en-US" dirty="0" err="1"/>
              <a:t>Favorites.jsx</a:t>
            </a:r>
            <a:r>
              <a:rPr lang="en-US" dirty="0"/>
              <a:t>: Handles displaying and managing the user's favorite movies.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 err="1"/>
              <a:t>LanguageSelector.jsx</a:t>
            </a:r>
            <a:r>
              <a:rPr lang="en-US" dirty="0"/>
              <a:t>: Allows users to switch between different languages.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 err="1"/>
              <a:t>MovieDetails.jsx</a:t>
            </a:r>
            <a:r>
              <a:rPr lang="en-US" dirty="0"/>
              <a:t>: Shows detailed information about a selected movie.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 err="1"/>
              <a:t>SearchBar.jsx</a:t>
            </a:r>
            <a:r>
              <a:rPr lang="en-US" dirty="0"/>
              <a:t>: Contains the search input and clear functionality.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locales:</a:t>
            </a:r>
            <a:endParaRPr lang="en-US" dirty="0"/>
          </a:p>
          <a:p>
            <a:pPr marL="1143000" lvl="2" indent="-228600">
              <a:buFont typeface="+mj-lt"/>
              <a:buAutoNum type="arabicPeriod"/>
            </a:pPr>
            <a:r>
              <a:rPr lang="en-US" dirty="0" err="1"/>
              <a:t>en.json</a:t>
            </a:r>
            <a:r>
              <a:rPr lang="en-US" dirty="0"/>
              <a:t>, </a:t>
            </a:r>
            <a:r>
              <a:rPr lang="en-US" dirty="0" err="1"/>
              <a:t>es.json</a:t>
            </a:r>
            <a:r>
              <a:rPr lang="en-US" dirty="0"/>
              <a:t>, </a:t>
            </a:r>
            <a:r>
              <a:rPr lang="en-US" dirty="0" err="1"/>
              <a:t>fr.json</a:t>
            </a:r>
            <a:r>
              <a:rPr lang="en-US" dirty="0"/>
              <a:t>: JSON files for internationalization, storing translations for English, Spanish, and French.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services:</a:t>
            </a:r>
            <a:endParaRPr lang="en-US" dirty="0"/>
          </a:p>
          <a:p>
            <a:pPr marL="1143000" lvl="2" indent="-228600">
              <a:buFont typeface="+mj-lt"/>
              <a:buAutoNum type="arabicPeriod"/>
            </a:pPr>
            <a:r>
              <a:rPr lang="en-US" dirty="0" err="1"/>
              <a:t>movieService.js</a:t>
            </a:r>
            <a:r>
              <a:rPr lang="en-US" dirty="0"/>
              <a:t>: Handles API requests to fetch movie data and details.</a:t>
            </a:r>
          </a:p>
          <a:p>
            <a:pPr marL="1143000" lvl="2" indent="-228600">
              <a:buFont typeface="+mj-lt"/>
              <a:buAutoNum type="arabicPeriod"/>
            </a:pPr>
            <a:endParaRPr lang="en-US" dirty="0"/>
          </a:p>
          <a:p>
            <a:pPr lvl="1"/>
            <a:r>
              <a:rPr lang="en-US" dirty="0" err="1"/>
              <a:t>App.jsx</a:t>
            </a:r>
            <a:r>
              <a:rPr lang="en-US" dirty="0"/>
              <a:t>: Main application file with the movie search and favorites functionality.</a:t>
            </a:r>
          </a:p>
          <a:p>
            <a:pPr lvl="1"/>
            <a:r>
              <a:rPr lang="en-US" dirty="0" err="1"/>
              <a:t>main.jsx</a:t>
            </a:r>
            <a:r>
              <a:rPr lang="en-US" dirty="0"/>
              <a:t>: Entry point of the application for rendering components.</a:t>
            </a:r>
          </a:p>
          <a:p>
            <a:pPr lvl="1"/>
            <a:r>
              <a:rPr lang="en-US" dirty="0"/>
              <a:t>i18n.js: Configures the i18n library for translations.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A98ABD-5823-FF4E-989E-A1B6176B0D48}"/>
              </a:ext>
            </a:extLst>
          </p:cNvPr>
          <p:cNvGraphicFramePr>
            <a:graphicFrameLocks noGrp="1"/>
          </p:cNvGraphicFramePr>
          <p:nvPr/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Directory</a:t>
            </a:r>
            <a:r>
              <a:rPr dirty="0"/>
              <a:t>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4E2886-8200-FC47-BD3E-9C78D722EA6E}"/>
              </a:ext>
            </a:extLst>
          </p:cNvPr>
          <p:cNvSpPr/>
          <p:nvPr/>
        </p:nvSpPr>
        <p:spPr>
          <a:xfrm>
            <a:off x="104502" y="1271855"/>
            <a:ext cx="858229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Public Folder: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flags: Contains flag images for different languages.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placeholder-</a:t>
            </a:r>
            <a:r>
              <a:rPr lang="en-US" dirty="0" err="1"/>
              <a:t>image.jpg</a:t>
            </a:r>
            <a:r>
              <a:rPr lang="en-US" dirty="0"/>
              <a:t>: A fallback image for movies without posters.</a:t>
            </a:r>
          </a:p>
          <a:p>
            <a:pPr lvl="1"/>
            <a:endParaRPr lang="en-US" dirty="0"/>
          </a:p>
          <a:p>
            <a:r>
              <a:rPr lang="en-US" b="1" dirty="0"/>
              <a:t>Other Files: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.env</a:t>
            </a:r>
            <a:r>
              <a:rPr lang="en-US" dirty="0"/>
              <a:t>:</a:t>
            </a:r>
          </a:p>
          <a:p>
            <a:r>
              <a:rPr lang="en-US" dirty="0"/>
              <a:t>      Contains environment variables (e.g., API keys, sensitive information).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.</a:t>
            </a:r>
            <a:r>
              <a:rPr lang="en-US" b="1" dirty="0" err="1"/>
              <a:t>gitignore</a:t>
            </a:r>
            <a:r>
              <a:rPr lang="en-US" dirty="0" err="1"/>
              <a:t>:Specifies</a:t>
            </a:r>
            <a:r>
              <a:rPr lang="en-US" dirty="0"/>
              <a:t> files and directories that should be ignored by Git.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package-</a:t>
            </a:r>
            <a:r>
              <a:rPr lang="en-US" b="1" dirty="0" err="1"/>
              <a:t>lock.json</a:t>
            </a:r>
            <a:r>
              <a:rPr lang="en-US" b="1" dirty="0"/>
              <a:t> and </a:t>
            </a:r>
            <a:r>
              <a:rPr lang="en-US" b="1" dirty="0" err="1"/>
              <a:t>package.json</a:t>
            </a:r>
            <a:r>
              <a:rPr lang="en-US" dirty="0"/>
              <a:t>:</a:t>
            </a:r>
          </a:p>
          <a:p>
            <a:r>
              <a:rPr lang="en-US" dirty="0"/>
              <a:t>     </a:t>
            </a:r>
            <a:r>
              <a:rPr lang="en-US" dirty="0" err="1"/>
              <a:t>package.json</a:t>
            </a:r>
            <a:r>
              <a:rPr lang="en-US" dirty="0"/>
              <a:t>: Lists project dependencies, scripts, and metadata.</a:t>
            </a:r>
          </a:p>
          <a:p>
            <a:r>
              <a:rPr lang="en-US" dirty="0"/>
              <a:t>     package-</a:t>
            </a:r>
            <a:r>
              <a:rPr lang="en-US" dirty="0" err="1"/>
              <a:t>lock.json</a:t>
            </a:r>
            <a:r>
              <a:rPr lang="en-US" dirty="0"/>
              <a:t>: Ensures consistent dependency versions across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postcss.config.cjs</a:t>
            </a:r>
            <a:r>
              <a:rPr lang="en-US" dirty="0"/>
              <a:t>:</a:t>
            </a:r>
          </a:p>
          <a:p>
            <a:r>
              <a:rPr lang="en-US" dirty="0"/>
              <a:t>     Configures </a:t>
            </a:r>
            <a:r>
              <a:rPr lang="en-US" dirty="0" err="1"/>
              <a:t>PostCSS</a:t>
            </a:r>
            <a:r>
              <a:rPr lang="en-US" dirty="0"/>
              <a:t> for processing CSS files (e.g., </a:t>
            </a:r>
            <a:r>
              <a:rPr lang="en-US" dirty="0" err="1"/>
              <a:t>autoprefixing</a:t>
            </a:r>
            <a:r>
              <a:rPr lang="en-US" dirty="0"/>
              <a:t>, optimizations).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tailwind.config.js</a:t>
            </a:r>
            <a:r>
              <a:rPr lang="en-US" dirty="0"/>
              <a:t>:</a:t>
            </a:r>
          </a:p>
          <a:p>
            <a:r>
              <a:rPr lang="en-US" dirty="0"/>
              <a:t>     Configures Tailwind CSS for custom styles and themes.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vite.config.js</a:t>
            </a:r>
            <a:r>
              <a:rPr lang="en-US" dirty="0"/>
              <a:t>:</a:t>
            </a:r>
          </a:p>
          <a:p>
            <a:r>
              <a:rPr lang="en-US" dirty="0"/>
              <a:t>     Configures </a:t>
            </a:r>
            <a:r>
              <a:rPr lang="en-US" dirty="0" err="1"/>
              <a:t>Vite</a:t>
            </a:r>
            <a:r>
              <a:rPr lang="en-US" dirty="0"/>
              <a:t>, your project's bundler and development server.</a:t>
            </a:r>
          </a:p>
          <a:p>
            <a:pPr lvl="1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007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2903D2-AB01-6A46-AF00-A6E7B4C5C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265238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AC9B44C-EB12-554F-9D40-66D67AB10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" y="1323502"/>
            <a:ext cx="7968343" cy="55344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BE4DFC-2851-D241-82E9-9E30143B1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112834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API</a:t>
            </a:r>
            <a:r>
              <a:rPr lang="fr-FR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45" y="1962694"/>
            <a:ext cx="9000309" cy="379802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OMDB API </a:t>
            </a:r>
            <a:r>
              <a:rPr lang="en-US" dirty="0"/>
              <a:t>Purpose: Fetches movie data, including:</a:t>
            </a:r>
          </a:p>
          <a:p>
            <a:pPr lvl="1"/>
            <a:r>
              <a:rPr lang="en-US" dirty="0"/>
              <a:t>Search results based on user queries.</a:t>
            </a:r>
          </a:p>
          <a:p>
            <a:pPr lvl="1"/>
            <a:r>
              <a:rPr lang="en-US" dirty="0"/>
              <a:t>Detailed information about individual movies (title, year, genre, actors, plot, poster, etc.).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Implementation: Used with </a:t>
            </a:r>
            <a:r>
              <a:rPr lang="en-US" dirty="0" err="1"/>
              <a:t>Axios</a:t>
            </a:r>
            <a:r>
              <a:rPr lang="en-US" dirty="0"/>
              <a:t> to send HTTP requests and retrieve data.</a:t>
            </a:r>
          </a:p>
          <a:p>
            <a:endParaRPr lang="en-US" dirty="0"/>
          </a:p>
          <a:p>
            <a:r>
              <a:rPr lang="en-US" dirty="0"/>
              <a:t>Endpoint Example: https://</a:t>
            </a:r>
            <a:r>
              <a:rPr lang="en-US" dirty="0" err="1"/>
              <a:t>www.omdbapi.com</a:t>
            </a:r>
            <a:r>
              <a:rPr lang="en-US" dirty="0"/>
              <a:t>/?</a:t>
            </a:r>
            <a:r>
              <a:rPr lang="en-US" dirty="0" err="1"/>
              <a:t>apikey</a:t>
            </a:r>
            <a:r>
              <a:rPr lang="en-US" dirty="0"/>
              <a:t>=YOUR_API_KEY&amp;s=</a:t>
            </a:r>
            <a:r>
              <a:rPr lang="en-US" dirty="0" err="1"/>
              <a:t>movie_title</a:t>
            </a:r>
            <a:r>
              <a:rPr lang="en-US" dirty="0"/>
              <a:t> for search queries.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5998DC-871D-0948-95AE-1FC72A93B652}"/>
              </a:ext>
            </a:extLst>
          </p:cNvPr>
          <p:cNvGraphicFramePr>
            <a:graphicFrameLocks noGrp="1"/>
          </p:cNvGraphicFramePr>
          <p:nvPr/>
        </p:nvGraphicFramePr>
        <p:xfrm>
          <a:off x="0" y="-1"/>
          <a:ext cx="9144000" cy="6858001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685800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45010"/>
            <a:ext cx="7772400" cy="2508069"/>
          </a:xfrm>
        </p:spPr>
        <p:txBody>
          <a:bodyPr>
            <a:normAutofit/>
          </a:bodyPr>
          <a:lstStyle/>
          <a:p>
            <a:r>
              <a:rPr lang="en-US" dirty="0"/>
              <a:t>Report of developments</a:t>
            </a:r>
            <a:endParaRPr sz="3100" b="1" u="sng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F40B4B-6C72-1043-939A-D4606823D2C4}"/>
              </a:ext>
            </a:extLst>
          </p:cNvPr>
          <p:cNvCxnSpPr/>
          <p:nvPr/>
        </p:nvCxnSpPr>
        <p:spPr>
          <a:xfrm>
            <a:off x="554081" y="4814343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4D1714-DB06-EB46-AAD7-0C85528126BD}"/>
              </a:ext>
            </a:extLst>
          </p:cNvPr>
          <p:cNvCxnSpPr/>
          <p:nvPr/>
        </p:nvCxnSpPr>
        <p:spPr>
          <a:xfrm>
            <a:off x="554081" y="2255965"/>
            <a:ext cx="8001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72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5DC10-B22C-6148-856E-B82571AC6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935549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Successes</a:t>
            </a:r>
            <a:endParaRPr lang="en-US" dirty="0"/>
          </a:p>
          <a:p>
            <a:r>
              <a:rPr lang="en-US" b="1" dirty="0"/>
              <a:t>API Integration</a:t>
            </a:r>
            <a:r>
              <a:rPr lang="en-US" dirty="0"/>
              <a:t>: Successfully implemented OMDB API to fetch movie data, search results, and detailed information.</a:t>
            </a:r>
          </a:p>
          <a:p>
            <a:r>
              <a:rPr lang="en-US" b="1" dirty="0"/>
              <a:t>Favorites Feature</a:t>
            </a:r>
            <a:r>
              <a:rPr lang="en-US" dirty="0"/>
              <a:t>: Added a favorites list stored locally, with plans for backend integration.</a:t>
            </a:r>
          </a:p>
          <a:p>
            <a:r>
              <a:rPr lang="en-US" b="1" dirty="0"/>
              <a:t>Internationalization (i18n)</a:t>
            </a:r>
            <a:r>
              <a:rPr lang="en-US" dirty="0"/>
              <a:t>: Supported multiple languages (English, French, Spanish) with translations for UI components.</a:t>
            </a:r>
          </a:p>
          <a:p>
            <a:r>
              <a:rPr lang="en-US" b="1" dirty="0"/>
              <a:t>Pagination</a:t>
            </a:r>
            <a:r>
              <a:rPr lang="en-US" dirty="0"/>
              <a:t>: Implemented pagination for seamless navigation through search results.</a:t>
            </a:r>
          </a:p>
          <a:p>
            <a:r>
              <a:rPr lang="en-US" b="1" dirty="0"/>
              <a:t>Error Handling</a:t>
            </a:r>
            <a:r>
              <a:rPr lang="en-US" dirty="0"/>
              <a:t>: Designed meaningful error messages for no results and API issues.</a:t>
            </a:r>
          </a:p>
          <a:p>
            <a:r>
              <a:rPr lang="en-US" b="1" dirty="0"/>
              <a:t>Responsive Design</a:t>
            </a:r>
            <a:r>
              <a:rPr lang="en-US" dirty="0"/>
              <a:t>: Created a responsive UI adaptable to various screen sizes.</a:t>
            </a:r>
          </a:p>
        </p:txBody>
      </p:sp>
    </p:spTree>
    <p:extLst>
      <p:ext uri="{BB962C8B-B14F-4D97-AF65-F5344CB8AC3E}">
        <p14:creationId xmlns:p14="http://schemas.microsoft.com/office/powerpoint/2010/main" val="1892951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D93227-37CA-C245-BFEF-3B52F7E30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35063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Limited API Data</a:t>
            </a:r>
            <a:r>
              <a:rPr lang="en-US" dirty="0"/>
              <a:t>: The OMDB API only provided 10 results per page, requiring extra handling for pagination and navigation.</a:t>
            </a:r>
          </a:p>
          <a:p>
            <a:r>
              <a:rPr lang="en-US" b="1" dirty="0"/>
              <a:t>Language Integration</a:t>
            </a:r>
            <a:r>
              <a:rPr lang="en-US" dirty="0"/>
              <a:t>: Ensuring seamless switching between multiple languages for all UI elements and features.</a:t>
            </a:r>
          </a:p>
          <a:p>
            <a:r>
              <a:rPr lang="en-US" b="1" dirty="0"/>
              <a:t>Favorites Synchronization</a:t>
            </a:r>
            <a:r>
              <a:rPr lang="en-US" dirty="0"/>
              <a:t>: No backend integration yet for persisting user favorites across devices.</a:t>
            </a:r>
          </a:p>
          <a:p>
            <a:r>
              <a:rPr lang="en-US" b="1" dirty="0"/>
              <a:t>Error Handling Complexity</a:t>
            </a:r>
            <a:r>
              <a:rPr lang="en-US" dirty="0"/>
              <a:t>: Managing edge cases like invalid API responses or network failures.</a:t>
            </a:r>
          </a:p>
          <a:p>
            <a:r>
              <a:rPr lang="en-US" b="1" dirty="0"/>
              <a:t>SEO Optimization</a:t>
            </a:r>
            <a:r>
              <a:rPr lang="en-US" dirty="0"/>
              <a:t>: Incorporating tools like React Helmet and </a:t>
            </a:r>
            <a:r>
              <a:rPr lang="en-US" dirty="0" err="1"/>
              <a:t>OpenGraph</a:t>
            </a:r>
            <a:r>
              <a:rPr lang="en-US" dirty="0"/>
              <a:t> tags for better discoverability.</a:t>
            </a:r>
          </a:p>
        </p:txBody>
      </p:sp>
    </p:spTree>
    <p:extLst>
      <p:ext uri="{BB962C8B-B14F-4D97-AF65-F5344CB8AC3E}">
        <p14:creationId xmlns:p14="http://schemas.microsoft.com/office/powerpoint/2010/main" val="3253650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85BA7D-6BFA-3443-B4D5-36CC55F1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769230"/>
              </p:ext>
            </p:extLst>
          </p:nvPr>
        </p:nvGraphicFramePr>
        <p:xfrm>
          <a:off x="0" y="-1"/>
          <a:ext cx="9144000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Areas for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11434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Deployment</a:t>
            </a:r>
          </a:p>
          <a:p>
            <a:r>
              <a:rPr lang="en-US" b="1" dirty="0"/>
              <a:t>User Authentication</a:t>
            </a:r>
            <a:r>
              <a:rPr lang="en-US" dirty="0"/>
              <a:t>: Add a secure login system to provide personalized experiences, such as managing user profiles and syncing favorites.</a:t>
            </a:r>
          </a:p>
          <a:p>
            <a:r>
              <a:rPr lang="en-US" b="1" dirty="0"/>
              <a:t>Database Integration</a:t>
            </a:r>
            <a:r>
              <a:rPr lang="en-US" dirty="0"/>
              <a:t>: Implement a backend database (e.g., MongoDB) to store user preferences, favorites, and movie data for better persistence.</a:t>
            </a:r>
          </a:p>
          <a:p>
            <a:r>
              <a:rPr lang="en-US" b="1" dirty="0"/>
              <a:t>Advanced Search Features</a:t>
            </a:r>
            <a:r>
              <a:rPr lang="en-US" dirty="0"/>
              <a:t>: Include filters and sorting options like genres, ratings, and release years for enhanced searchability.</a:t>
            </a:r>
          </a:p>
          <a:p>
            <a:r>
              <a:rPr lang="en-US" b="1" dirty="0"/>
              <a:t>Performance Optimization</a:t>
            </a:r>
            <a:r>
              <a:rPr lang="en-US" dirty="0"/>
              <a:t>: Leverage lazy loading for images and components to improve application speed and responsiveness.</a:t>
            </a:r>
          </a:p>
          <a:p>
            <a:r>
              <a:rPr lang="en-US" b="1" dirty="0"/>
              <a:t>Mobile Responsiveness</a:t>
            </a:r>
            <a:r>
              <a:rPr lang="en-US" dirty="0"/>
              <a:t>: Ensure seamless usability across various screen sizes, including smartphones and tablets.</a:t>
            </a:r>
          </a:p>
          <a:p>
            <a:r>
              <a:rPr lang="en-US" b="1" dirty="0"/>
              <a:t>Enhanced SEO</a:t>
            </a:r>
            <a:r>
              <a:rPr lang="en-US" dirty="0"/>
              <a:t>: Use React Helmet and </a:t>
            </a:r>
            <a:r>
              <a:rPr lang="en-US" dirty="0" err="1"/>
              <a:t>OpenGraph</a:t>
            </a:r>
            <a:r>
              <a:rPr lang="en-US" dirty="0"/>
              <a:t> tags for better search engine discoverability and sharing.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3501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FD1700-A548-8B4C-91F3-459A75E51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95510"/>
              </p:ext>
            </p:extLst>
          </p:nvPr>
        </p:nvGraphicFramePr>
        <p:xfrm>
          <a:off x="0" y="-1"/>
          <a:ext cx="9144000" cy="6858001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685800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25AF0C-58EB-BB43-BA35-D77929292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773019"/>
              </p:ext>
            </p:extLst>
          </p:nvPr>
        </p:nvGraphicFramePr>
        <p:xfrm>
          <a:off x="13061" y="13062"/>
          <a:ext cx="9117876" cy="1267097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9117876">
                  <a:extLst>
                    <a:ext uri="{9D8B030D-6E8A-4147-A177-3AD203B41FA5}">
                      <a16:colId xmlns:a16="http://schemas.microsoft.com/office/drawing/2014/main" val="4261982424"/>
                    </a:ext>
                  </a:extLst>
                </a:gridCol>
              </a:tblGrid>
              <a:tr h="126709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4042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857499"/>
            <a:ext cx="8229600" cy="1143000"/>
          </a:xfrm>
        </p:spPr>
        <p:txBody>
          <a:bodyPr/>
          <a:lstStyle/>
          <a:p>
            <a:r>
              <a:rPr lang="fr-FR" dirty="0" err="1"/>
              <a:t>Thank</a:t>
            </a:r>
            <a:r>
              <a:rPr lang="fr-FR" dirty="0"/>
              <a:t> You </a:t>
            </a:r>
            <a:r>
              <a:rPr lang="fr-FR" dirty="0" err="1"/>
              <a:t>Alx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6355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967</Words>
  <Application>Microsoft Macintosh PowerPoint</Application>
  <PresentationFormat>On-screen Show (4:3)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Movie-Database  Capstone Project Presentation</vt:lpstr>
      <vt:lpstr>Movie-Database  Capstone Project Presentation</vt:lpstr>
      <vt:lpstr>Public GitHub Repository</vt:lpstr>
      <vt:lpstr>Movie-Database Overview</vt:lpstr>
      <vt:lpstr>Problem Statement</vt:lpstr>
      <vt:lpstr>Solution</vt:lpstr>
      <vt:lpstr>Directory Structure:</vt:lpstr>
      <vt:lpstr>Directory Architecture</vt:lpstr>
      <vt:lpstr>Directory Architecture</vt:lpstr>
      <vt:lpstr>Technologies Used</vt:lpstr>
      <vt:lpstr>APIs</vt:lpstr>
      <vt:lpstr>Report of developments</vt:lpstr>
      <vt:lpstr>Successes</vt:lpstr>
      <vt:lpstr>Challenges</vt:lpstr>
      <vt:lpstr>Areas for Improvement</vt:lpstr>
      <vt:lpstr>Thank You Alx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SportLink  Portfolio Project Presentation</dc:title>
  <dc:subject/>
  <dc:creator/>
  <cp:keywords/>
  <dc:description>generated using python-pptx</dc:description>
  <cp:lastModifiedBy>Microsoft Office User</cp:lastModifiedBy>
  <cp:revision>6</cp:revision>
  <dcterms:created xsi:type="dcterms:W3CDTF">2013-01-27T09:14:16Z</dcterms:created>
  <dcterms:modified xsi:type="dcterms:W3CDTF">2025-01-14T10:20:38Z</dcterms:modified>
  <cp:category/>
</cp:coreProperties>
</file>